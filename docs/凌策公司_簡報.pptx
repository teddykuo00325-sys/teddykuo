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凌策公司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3B82F6"/>
                </a:solidFill>
                <a:latin typeface="Microsoft JhengHei"/>
              </a:defRPr>
            </a:pPr>
            <a:r>
              <a:t>AI Agent 驅動的軟體公司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4CF"/>
                </a:solidFill>
                <a:latin typeface="Microsoft JhengHei"/>
              </a:defRPr>
            </a:pPr>
            <a:r>
              <a:t>一人監管 + AI Agent 協作的 Palantir 式組織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B4CF"/>
                </a:solidFill>
                <a:latin typeface="Microsoft JhengHei"/>
              </a:defRPr>
            </a:pPr>
            <a:r>
              <a:t>AI 領導人擂台大賽  |  2026-04-16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公司願景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以 AI Agent 協作取代傳統人力組織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B82F6"/>
                </a:solidFill>
                <a:latin typeface="Microsoft JhengHei"/>
              </a:defRPr>
            </a:pPr>
            <a:r>
              <a:t>實現 100% AI 驅動的軟體公司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2468880" cy="201168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JhengHei"/>
              </a:defRPr>
            </a:pPr>
            <a:r>
              <a:t>AI 原生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從零開始以 AI Agent</a:t>
            </a:r>
            <a:br/>
            <a:r>
              <a:t>作為核心生產力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560320"/>
            <a:ext cx="2468880" cy="201168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JhengHei"/>
              </a:defRPr>
            </a:pPr>
            <a:r>
              <a:t>一人監管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2918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人類領導人專注於</a:t>
            </a:r>
            <a:br/>
            <a:r>
              <a:t>策略決策與品質把關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60320"/>
            <a:ext cx="2468880" cy="201168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JhengHei"/>
              </a:defRPr>
            </a:pPr>
            <a:r>
              <a:t>規模化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10 個 AI Agent 覆蓋</a:t>
            </a:r>
            <a:br/>
            <a:r>
              <a:t>業務、技術、營運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組織架構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人類領導人 (CEO)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563EB"/>
                </a:solidFill>
                <a:latin typeface="Microsoft JhengHei"/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74519"/>
            <a:ext cx="3657600" cy="548640"/>
          </a:xfrm>
          <a:prstGeom prst="rect">
            <a:avLst/>
          </a:prstGeom>
          <a:solidFill>
            <a:srgbClr val="1E407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icrosoft JhengHei"/>
              </a:defRPr>
            </a:pPr>
            <a:r>
              <a:t>Orchestrator Agent (中央調度)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563EB"/>
                </a:solidFill>
                <a:latin typeface="Microsoft JhengHei"/>
              </a:defRPr>
            </a:pPr>
            <a: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業務開發部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2651760" cy="137160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Sales Agent</a:t>
            </a:r>
            <a:br/>
            <a:r>
              <a:t>Marketing Agent</a:t>
            </a:r>
            <a:br/>
            <a:r>
              <a:t>BD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834640"/>
            <a:ext cx="26517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880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技術研發部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291840"/>
            <a:ext cx="2651760" cy="137160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383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Architect Agent</a:t>
            </a:r>
            <a:br/>
            <a:r>
              <a:t>Frontend Agent</a:t>
            </a:r>
            <a:br/>
            <a:r>
              <a:t>Backend Agent</a:t>
            </a:r>
            <a:br/>
            <a:r>
              <a:t>QA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834640"/>
            <a:ext cx="26517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營運管理部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91840"/>
            <a:ext cx="2651760" cy="137160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Finance Agent</a:t>
            </a:r>
            <a:br/>
            <a:r>
              <a:t>HR Agent</a:t>
            </a:r>
            <a:br/>
            <a:r>
              <a:t>Legal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AI Agent 團隊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966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Agent 名稱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9966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職責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996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使用模型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624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JhengHei"/>
              </a:defRPr>
            </a:pPr>
            <a: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3624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中央任務調度與協作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362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Claude Opus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91640"/>
            <a:ext cx="8229600" cy="34747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282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JhengHei"/>
              </a:defRPr>
            </a:pPr>
            <a:r>
              <a:t>Sales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728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客戶開發與報價管理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282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Claude Sonnet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57400"/>
            <a:ext cx="8229600" cy="347472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093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JhengHei"/>
              </a:defRPr>
            </a:pPr>
            <a:r>
              <a:t>Marketing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0939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市場分析與內容策略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0939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Claude Sonnet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4597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JhengHei"/>
              </a:defRPr>
            </a:pPr>
            <a:r>
              <a:t>BD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459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商業拓展與合作夥伴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4597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Claude Sonnet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254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JhengHei"/>
              </a:defRPr>
            </a:pPr>
            <a:r>
              <a:t>Architect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8254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系統架構與技術決策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Claude Opus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1912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JhengHei"/>
              </a:defRPr>
            </a:pPr>
            <a:r>
              <a:t>Frontend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1912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前端開發與 UI/UX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1912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Claude Sonnet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557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JhengHei"/>
              </a:defRPr>
            </a:pPr>
            <a:r>
              <a:t>Backend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557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後端開發與 API 設計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557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Claude Sonnet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9227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JhengHei"/>
              </a:defRPr>
            </a:pPr>
            <a:r>
              <a:t>QA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3922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測試自動化與品質保證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9227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Claude Sonnet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288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JhengHei"/>
              </a:defRPr>
            </a:pPr>
            <a:r>
              <a:t>Finance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42885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財務分析與成本控制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2885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Claude Haiku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6542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JhengHei"/>
              </a:defRPr>
            </a:pPr>
            <a:r>
              <a:t>Legal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654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法律合規與合約審查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6542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Claude Sonnet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技術架構 — 在線系統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06040" cy="16459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JhengHei"/>
              </a:defRPr>
            </a:pPr>
            <a:r>
              <a:t>Claude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核心 LLM 推理引擎</a:t>
            </a:r>
            <a:br/>
            <a:r>
              <a:t>提供高品質自然語言理解與生成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97280"/>
            <a:ext cx="2606040" cy="16459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097280"/>
            <a:ext cx="54864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JhengHei"/>
              </a:defRPr>
            </a:pPr>
            <a:r>
              <a:t>MCP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691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Model Context Protocol</a:t>
            </a:r>
            <a:br/>
            <a:r>
              <a:t>Agent 間標準化通訊協定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2606040" cy="16459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4864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JhengHei"/>
              </a:defRPr>
            </a:pPr>
            <a:r>
              <a:t>LiteLLM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多模型路由與負載均衡</a:t>
            </a:r>
            <a:br/>
            <a:r>
              <a:t>統一 API 介面管理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2606040" cy="16459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JhengHei"/>
              </a:defRPr>
            </a:pPr>
            <a:r>
              <a:t>RAG + Qdrant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向量資料庫檢索增強生成</a:t>
            </a:r>
            <a:br/>
            <a:r>
              <a:t>企業知識庫即時查詢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017520"/>
            <a:ext cx="2606040" cy="16459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3017520"/>
            <a:ext cx="54864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JhengHei"/>
              </a:defRPr>
            </a:pPr>
            <a:r>
              <a:t>Claude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611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AI 輔助程式碼開發</a:t>
            </a:r>
            <a:br/>
            <a:r>
              <a:t>自動化軟體工程流程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技術架構 — 離線系統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B4CF"/>
                </a:solidFill>
                <a:latin typeface="Microsoft JhengHei"/>
              </a:defRPr>
            </a:pPr>
            <a:r>
              <a:t>高安全性離線推理環境 — 適用於機密資料處理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931920" cy="155448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icrosoft JhengHei"/>
              </a:defRPr>
            </a:pPr>
            <a:r>
              <a:t>vLLM 推理引擎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高效能本地推理伺服器</a:t>
            </a:r>
            <a:br/>
            <a:r>
              <a:t>支援大規模模型部署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554480"/>
            <a:ext cx="3931920" cy="155448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55448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JhengHei"/>
              </a:defRPr>
            </a:pPr>
            <a:r>
              <a:t>Hermes 3 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488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開源大語言模型</a:t>
            </a:r>
            <a:br/>
            <a:r>
              <a:t>離線環境完整運行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3931920" cy="155448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54864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JhengHei"/>
              </a:defRPr>
            </a:pPr>
            <a:r>
              <a:t>加密磁碟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全磁碟加密技術</a:t>
            </a:r>
            <a:br/>
            <a:r>
              <a:t>資料靜態加密保護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3383280"/>
            <a:ext cx="3931920" cy="155448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3383280"/>
            <a:ext cx="54864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JhengHei"/>
              </a:defRPr>
            </a:pPr>
            <a:r>
              <a:t>Air-gapped 網路隔離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776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完全斷網的實體隔離</a:t>
            </a:r>
            <a:br/>
            <a:r>
              <a:t>防止任何外部數據洩漏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商業模式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06040" cy="34747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06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Microsoft JhengHei"/>
              </a:defRPr>
            </a:pPr>
            <a:r>
              <a:t>AI Agent</a:t>
            </a:r>
            <a:br/>
            <a:r>
              <a:t>系統整合服務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為企業客戶打造</a:t>
            </a:r>
            <a:br/>
            <a:r>
              <a:t>客製化 AI Agent 系統</a:t>
            </a:r>
            <a:br/>
            <a:br/>
            <a:r>
              <a:t>端到端整合部署</a:t>
            </a:r>
            <a:br/>
            <a:r>
              <a:t>持續維運與優化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97280"/>
            <a:ext cx="2606040" cy="34747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09728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3258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軟體開發</a:t>
            </a:r>
            <a:br/>
            <a:r>
              <a:t>服務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AI 驅動的高效</a:t>
            </a:r>
            <a:br/>
            <a:r>
              <a:t>軟體開發專案</a:t>
            </a:r>
            <a:br/>
            <a:br/>
            <a:r>
              <a:t>全棧開發能力</a:t>
            </a:r>
            <a:br/>
            <a:r>
              <a:t>快速交付 MVP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2606040" cy="34747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260604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258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JhengHei"/>
              </a:defRPr>
            </a:pPr>
            <a:r>
              <a:t>AI 顧問</a:t>
            </a:r>
            <a:br/>
            <a:r>
              <a:t>服務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企業 AI 轉型</a:t>
            </a:r>
            <a:br/>
            <a:r>
              <a:t>策略規劃與諮詢</a:t>
            </a:r>
            <a:br/>
            <a:br/>
            <a:r>
              <a:t>AI 導入評估</a:t>
            </a:r>
            <a:br/>
            <a:r>
              <a:t>技術路線圖制定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客戶認證策略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addwii 艾迪威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88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  <a:latin typeface="Microsoft JhengHei"/>
              </a:defRPr>
            </a:pPr>
            <a:r>
              <a:t>65%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AI Agent 系統整合專案</a:t>
            </a:r>
            <a:br/>
            <a:r>
              <a:t>預計合約金額：NT$ 500,000+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7772400" cy="914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50520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77439"/>
            <a:ext cx="8229600" cy="109728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microjet 捷銳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59E0B"/>
                </a:solidFill>
                <a:latin typeface="Microsoft JhengHei"/>
              </a:defRPr>
            </a:pPr>
            <a: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軟體開發服務合作</a:t>
            </a:r>
            <a:br/>
            <a:r>
              <a:t>預計合約金額：NT$ 300,000+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91839"/>
            <a:ext cx="7772400" cy="914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91839"/>
            <a:ext cx="31089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維明資訊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49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3B82F6"/>
                </a:solidFill>
                <a:latin typeface="Microsoft JhengHei"/>
              </a:defRPr>
            </a:pPr>
            <a: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AI 顧問服務</a:t>
            </a:r>
            <a:br/>
            <a:r>
              <a:t>預計合約金額：NT$ 200,000+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7772400" cy="914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72000"/>
            <a:ext cx="23317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七日作戰計劃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68880"/>
            <a:ext cx="749807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35915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公司成立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4CF"/>
                </a:solidFill>
                <a:latin typeface="Microsoft JhengHei"/>
              </a:defRPr>
            </a:pPr>
            <a:r>
              <a:t>組織架構確立、Agent 部署</a:t>
            </a:r>
          </a:p>
        </p:txBody>
      </p:sp>
      <p:sp>
        <p:nvSpPr>
          <p:cNvPr id="10" name="Oval 9"/>
          <p:cNvSpPr/>
          <p:nvPr/>
        </p:nvSpPr>
        <p:spPr>
          <a:xfrm>
            <a:off x="1965960" y="235915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371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691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系統搭建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34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4CF"/>
                </a:solidFill>
                <a:latin typeface="Microsoft JhengHei"/>
              </a:defRPr>
            </a:pPr>
            <a:r>
              <a:t>技術架構上線、開發環境就緒</a:t>
            </a:r>
          </a:p>
        </p:txBody>
      </p:sp>
      <p:sp>
        <p:nvSpPr>
          <p:cNvPr id="14" name="Oval 13"/>
          <p:cNvSpPr/>
          <p:nvPr/>
        </p:nvSpPr>
        <p:spPr>
          <a:xfrm>
            <a:off x="3154680" y="235915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371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Day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691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業務啟動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834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4CF"/>
                </a:solidFill>
                <a:latin typeface="Microsoft JhengHei"/>
              </a:defRPr>
            </a:pPr>
            <a:r>
              <a:t>客戶名單整理、提案準備</a:t>
            </a:r>
          </a:p>
        </p:txBody>
      </p:sp>
      <p:sp>
        <p:nvSpPr>
          <p:cNvPr id="18" name="Oval 17"/>
          <p:cNvSpPr/>
          <p:nvPr/>
        </p:nvSpPr>
        <p:spPr>
          <a:xfrm>
            <a:off x="4343400" y="235915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371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1691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客戶接觸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834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4CF"/>
                </a:solidFill>
                <a:latin typeface="Microsoft JhengHei"/>
              </a:defRPr>
            </a:pPr>
            <a:r>
              <a:t>首輪客戶拜訪與需求訪談</a:t>
            </a:r>
          </a:p>
        </p:txBody>
      </p:sp>
      <p:sp>
        <p:nvSpPr>
          <p:cNvPr id="22" name="Oval 21"/>
          <p:cNvSpPr/>
          <p:nvPr/>
        </p:nvSpPr>
        <p:spPr>
          <a:xfrm>
            <a:off x="5532120" y="235915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371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Day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1691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提案製作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834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4CF"/>
                </a:solidFill>
                <a:latin typeface="Microsoft JhengHei"/>
              </a:defRPr>
            </a:pPr>
            <a:r>
              <a:t>客製化方案與報價完成</a:t>
            </a:r>
          </a:p>
        </p:txBody>
      </p:sp>
      <p:sp>
        <p:nvSpPr>
          <p:cNvPr id="26" name="Oval 25"/>
          <p:cNvSpPr/>
          <p:nvPr/>
        </p:nvSpPr>
        <p:spPr>
          <a:xfrm>
            <a:off x="6720840" y="235915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Day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691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Demo 準備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34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4CF"/>
                </a:solidFill>
                <a:latin typeface="Microsoft JhengHei"/>
              </a:defRPr>
            </a:pPr>
            <a:r>
              <a:t>產品演示與系統整合測試</a:t>
            </a:r>
          </a:p>
        </p:txBody>
      </p:sp>
      <p:sp>
        <p:nvSpPr>
          <p:cNvPr id="30" name="Oval 29"/>
          <p:cNvSpPr/>
          <p:nvPr/>
        </p:nvSpPr>
        <p:spPr>
          <a:xfrm>
            <a:off x="7909560" y="2359152"/>
            <a:ext cx="228600" cy="2286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371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Microsoft JhengHei"/>
              </a:defRPr>
            </a:pPr>
            <a:r>
              <a:t>Day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691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成果發表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834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4CF"/>
                </a:solidFill>
                <a:latin typeface="Microsoft JhengHei"/>
              </a:defRPr>
            </a:pPr>
            <a:r>
              <a:t>最終簡報與成果展示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Token 成本控制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606040" cy="169164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4864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61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Prompt 快取機制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重複使用的系統提示詞快取</a:t>
            </a:r>
            <a:br/>
            <a:r>
              <a:t>減少重複 Token 消耗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331720"/>
            <a:ext cx="100584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350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省 40%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051560"/>
            <a:ext cx="2606040" cy="169164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051560"/>
            <a:ext cx="54864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161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模型分級調用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簡單任務用 Haiku</a:t>
            </a:r>
            <a:br/>
            <a:r>
              <a:t>複雜任務用 Opus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331720"/>
            <a:ext cx="1005840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350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省 60%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51560"/>
            <a:ext cx="2606040" cy="169164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4864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161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批次處理優化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非即時任務批次送出</a:t>
            </a:r>
            <a:br/>
            <a:r>
              <a:t>享受 Batch API 折扣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331720"/>
            <a:ext cx="100584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350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省 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17520"/>
            <a:ext cx="2606040" cy="169164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17520"/>
            <a:ext cx="54864" cy="1691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27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RAG 精準檢索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20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向量搜尋精準提取</a:t>
            </a:r>
            <a:br/>
            <a:r>
              <a:t>減少冗長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297680"/>
            <a:ext cx="100584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4315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省 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017520"/>
            <a:ext cx="2606040" cy="169164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3017520"/>
            <a:ext cx="54864" cy="1691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127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離線模型備援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520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機密資料用本地 Hermes 3</a:t>
            </a:r>
            <a:br/>
            <a:r>
              <a:t>零雲端費用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4297680"/>
            <a:ext cx="1005840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4315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省 100%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法律合規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06040" cy="34747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060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icrosoft JhengHei"/>
              </a:defRPr>
            </a:pPr>
            <a:r>
              <a:t>商業秘密保護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離線系統處理機密資料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加密磁碟與 Air-gapped 隔離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嚴格存取權限控管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097280"/>
            <a:ext cx="2606040" cy="34747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097280"/>
            <a:ext cx="26060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25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Microsoft JhengHei"/>
              </a:defRPr>
            </a:pPr>
            <a:r>
              <a:t>第三方權利保護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1168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AI 生成內容版權聲明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開源授權合規管理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918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智慧財產權風險評估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606040" cy="34747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258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資料隱私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1168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符合 GDPR/個資法規範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資料最小化收集原則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918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定期隱私影響評估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核心優勢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JhengHei"/>
              </a:defRPr>
            </a:pPr>
            <a:r>
              <a:t>AI 原生架構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從第一天起就以 AI Agent</a:t>
            </a:r>
            <a:br/>
            <a:r>
              <a:t>為核心的組織設計</a:t>
            </a:r>
            <a:br/>
            <a:r>
              <a:t>非傳統公司的 AI 改造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097280"/>
            <a:ext cx="3931920" cy="16459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097280"/>
            <a:ext cx="39319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icrosoft JhengHei"/>
              </a:defRPr>
            </a:pPr>
            <a:r>
              <a:t>Palantir 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一人監管 + AI 大軍</a:t>
            </a:r>
            <a:br/>
            <a:r>
              <a:t>最小人力成本</a:t>
            </a:r>
            <a:br/>
            <a:r>
              <a:t>最大運營效率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931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雙系統資安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在線 + 離線雙軌並行</a:t>
            </a:r>
            <a:br/>
            <a:r>
              <a:t>兼顧效能與安全</a:t>
            </a:r>
            <a:br/>
            <a:r>
              <a:t>Air-gapped 最高防護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3017520"/>
            <a:ext cx="3931920" cy="164592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60" y="3017520"/>
            <a:ext cx="3931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JhengHei"/>
              </a:defRPr>
            </a:pPr>
            <a:r>
              <a:t>快速交付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57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AI Agent 24/7 運作</a:t>
            </a:r>
            <a:br/>
            <a:r>
              <a:t>開發速度提升 10 倍</a:t>
            </a:r>
            <a:br/>
            <a:r>
              <a:t>7 天完成傳統 3 個月工作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Demo 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Microsoft JhengHei"/>
              </a:defRPr>
            </a:pPr>
            <a:r>
              <a:t>AI 協作指揮中心 —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8229600" cy="310896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468880" cy="12801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Agent 狀態監控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即時監控 10 個 Agent</a:t>
            </a:r>
            <a:br/>
            <a:r>
              <a:t>的運行狀態、任務進度</a:t>
            </a:r>
            <a:br/>
            <a:r>
              <a:t>與資源消耗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468880" cy="12801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任務看板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Kanban 式任務管理</a:t>
            </a:r>
            <a:br/>
            <a:r>
              <a:t>自動分派、優先級排序</a:t>
            </a:r>
            <a:br/>
            <a:r>
              <a:t>與進度追蹤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2560320" cy="12801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9019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對話記錄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4CF"/>
                </a:solidFill>
                <a:latin typeface="Microsoft JhengHei"/>
              </a:defRPr>
            </a:pPr>
            <a:r>
              <a:t>Agent 間協作對話</a:t>
            </a:r>
            <a:br/>
            <a:r>
              <a:t>決策過程透明可追溯</a:t>
            </a:r>
            <a:br/>
            <a:r>
              <a:t>完整審計軌跡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91840"/>
            <a:ext cx="7863840" cy="11887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Microsoft JhengHei"/>
              </a:defRPr>
            </a:pPr>
            <a:r>
              <a:t>成本分析儀表板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4CF"/>
                </a:solidFill>
                <a:latin typeface="Microsoft JhengHei"/>
              </a:defRPr>
            </a:pPr>
            <a:r>
              <a:t>Token 用量追蹤  |  各 Agent 成本分析  |  預算警報系統  |  ROI 即時計算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謝謝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Microsoft JhengHei"/>
              </a:defRPr>
            </a:pPr>
            <a:r>
              <a:t>凌策公司 — AI Agent 驅動的軟體公司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743200"/>
            <a:ext cx="27432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B4CF"/>
                </a:solidFill>
                <a:latin typeface="Microsoft JhengHei"/>
              </a:defRPr>
            </a:pPr>
            <a:r>
              <a:t>AI 領導人擂台大賽  |  2026-04-16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4CF"/>
                </a:solidFill>
                <a:latin typeface="Microsoft JhengHei"/>
              </a:defRPr>
            </a:pPr>
            <a:r>
              <a:t>聯絡方式：lingce.company@email.com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93776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